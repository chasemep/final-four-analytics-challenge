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Derived Variable Formulas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This document provides the mathematical formulas and definitions for the newly created </a:t>
                </a:r>
                <a:r>
                  <a:rPr b="1"/>
                  <a:t>Ratio</a:t>
                </a:r>
                <a:r>
                  <a:rPr/>
                  <a:t> and </a:t>
                </a:r>
                <a:r>
                  <a:rPr b="1"/>
                  <a:t>WAB</a:t>
                </a:r>
                <a:r>
                  <a:rPr/>
                  <a:t> (Wins Above Bubble) variables in the model.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1. Win/Loss Ratio Variables</a:t>
                </a:r>
              </a:p>
              <a:p>
                <a:pPr lvl="0" indent="0" marL="0">
                  <a:buNone/>
                </a:pPr>
                <a:r>
                  <a:rPr/>
                  <a:t>The ratio variables are calculated by dividing a team’s wins by their losses plus one. The “+ 1” prevents division-by-zero errors for undefeated teams.</a:t>
                </a:r>
              </a:p>
              <a:p>
                <a:pPr lvl="0" indent="0" marL="0">
                  <a:buNone/>
                </a:pPr>
                <a:r>
                  <a:rPr b="1"/>
                  <a:t>Formula: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c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L</m:t>
                              </m:r>
                            </m:e>
                            <m:sub>
                              <m:r>
                                <m:t>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subscript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represents the specific game category (e.g., Overall, Conference, Road).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2. Wins Above Bubble (WAB)</a:t>
                </a:r>
              </a:p>
              <a:p>
                <a:pPr lvl="0" indent="0" marL="0">
                  <a:buNone/>
                </a:pPr>
                <a:r>
                  <a:rPr/>
                  <a:t>Wins Above Bubble (WAB) estimates how many more wins a team achieved compared to an average “bubble” team playing the exact same schedule. A bubble team is defined as having a NET Rating of 85 (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b</m:t>
                        </m:r>
                        <m:r>
                          <m:t>u</m:t>
                        </m:r>
                        <m:r>
                          <m:t>b</m:t>
                        </m:r>
                        <m:r>
                          <m:t>b</m:t>
                        </m:r>
                        <m:r>
                          <m:t>l</m:t>
                        </m:r>
                        <m:r>
                          <m:t>e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85</m:t>
                    </m:r>
                  </m:oMath>
                </a14:m>
                <a:r>
                  <a:rPr/>
                  <a:t>).</a:t>
                </a:r>
              </a:p>
              <a:p>
                <a:pPr lvl="0" indent="0" marL="0">
                  <a:buNone/>
                </a:pPr>
                <a:r>
                  <a:rPr/>
                  <a:t>First, a baseline logistic regression model estimates the probability of the home team winning based on the difference in ratings: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nor/>
                          <m:sty m:val="p"/>
                        </m:rPr>
                        <m:t>Home Win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σ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R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i</m:t>
                      </m:r>
                      <m:r>
                        <m:t>n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a</m:t>
                          </m:r>
                          <m:r>
                            <m:t>w</m:t>
                          </m:r>
                          <m:r>
                            <m:t>a</m:t>
                          </m:r>
                          <m: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r>
                        <m:t>R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i</m:t>
                      </m:r>
                      <m:r>
                        <m:t>n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h</m:t>
                          </m:r>
                          <m:r>
                            <m:t>o</m:t>
                          </m:r>
                          <m:r>
                            <m:t>m</m:t>
                          </m:r>
                          <m: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each game, we compute the expectation if a bubble team (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b</m:t>
                        </m:r>
                        <m:r>
                          <m:t>u</m:t>
                        </m:r>
                        <m:r>
                          <m:t>b</m:t>
                        </m:r>
                        <m:r>
                          <m:t>b</m:t>
                        </m:r>
                        <m:r>
                          <m:t>l</m:t>
                        </m:r>
                        <m:r>
                          <m:t>e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85</m:t>
                    </m:r>
                  </m:oMath>
                </a14:m>
                <a:r>
                  <a:rPr/>
                  <a:t>) took the place of the actual team: - </a:t>
                </a:r>
                <a:r>
                  <a:rPr b="1"/>
                  <a:t>Home Bubble Win Probability: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b</m:t>
                        </m:r>
                        <m:r>
                          <m:t>u</m:t>
                        </m:r>
                        <m:r>
                          <m:t>b</m:t>
                        </m:r>
                        <m:r>
                          <m:t>b</m:t>
                        </m:r>
                        <m:r>
                          <m:t>l</m:t>
                        </m:r>
                        <m:r>
                          <m:t>e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h</m:t>
                        </m:r>
                        <m:r>
                          <m:t>o</m:t>
                        </m:r>
                        <m:r>
                          <m:t>m</m:t>
                        </m:r>
                        <m:r>
                          <m:t>e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</m:sSub>
                  </m:oMath>
                </a14:m>
                <a:r>
                  <a:rPr/>
                  <a:t> is the expected win probability of a bubble team playing at home against the actual away opponent. - </a:t>
                </a:r>
                <a:r>
                  <a:rPr b="1"/>
                  <a:t>Away Bubble Win Probability: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b</m:t>
                        </m:r>
                        <m:r>
                          <m:t>u</m:t>
                        </m:r>
                        <m:r>
                          <m:t>b</m:t>
                        </m:r>
                        <m:r>
                          <m:t>b</m:t>
                        </m:r>
                        <m:r>
                          <m:t>l</m:t>
                        </m:r>
                        <m:r>
                          <m:t>e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a</m:t>
                        </m:r>
                        <m:r>
                          <m:t>w</m:t>
                        </m:r>
                        <m:r>
                          <m:t>a</m:t>
                        </m:r>
                        <m:r>
                          <m:t>y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</m:sSub>
                  </m:oMath>
                </a14:m>
                <a:r>
                  <a:rPr/>
                  <a:t> is the expected probability used for a bubble team playing away against the actual home opponent.</a:t>
                </a:r>
              </a:p>
              <a:p>
                <a:pPr lvl="0" indent="0" marL="0">
                  <a:buNone/>
                </a:pPr>
                <a:r>
                  <a:rPr/>
                  <a:t>The WAB for a single game is the actual game outcome (</a:t>
                </a:r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g</m:t>
                        </m:r>
                        <m:r>
                          <m:t>a</m:t>
                        </m:r>
                        <m:r>
                          <m:t>m</m:t>
                        </m:r>
                        <m:r>
                          <m:t>e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</m:rPr>
                      <m:t>{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) minus the expected probability from the bubble model.</a:t>
                </a:r>
              </a:p>
              <a:p>
                <a:pPr lvl="0" indent="0" marL="0">
                  <a:buNone/>
                </a:pPr>
                <a:r>
                  <a:rPr b="1"/>
                  <a:t>Total WAB: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WAB</m:t>
                          </m:r>
                        </m:e>
                        <m:sub>
                          <m:r>
                            <m:t>t</m:t>
                          </m:r>
                          <m:r>
                            <m:t>o</m:t>
                          </m:r>
                          <m:r>
                            <m:t>t</m:t>
                          </m:r>
                          <m:r>
                            <m:t>a</m:t>
                          </m:r>
                          <m: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rPr>
                              <m:nor/>
                              <m:sty m:val="p"/>
                            </m:rPr>
                            <m:t>Home Games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(</m:t>
                          </m:r>
                        </m:e>
                      </m:nary>
                      <m:sSub>
                        <m:e>
                          <m:r>
                            <m:t>O</m:t>
                          </m:r>
                        </m:e>
                        <m:sub>
                          <m:r>
                            <m:t>h</m:t>
                          </m:r>
                          <m:r>
                            <m:t>o</m:t>
                          </m:r>
                          <m:r>
                            <m:t>m</m:t>
                          </m:r>
                          <m:r>
                            <m:t>e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b</m:t>
                          </m:r>
                          <m:r>
                            <m:t>u</m:t>
                          </m:r>
                          <m:r>
                            <m:t>b</m:t>
                          </m:r>
                          <m:r>
                            <m:t>b</m:t>
                          </m:r>
                          <m:r>
                            <m:t>l</m:t>
                          </m:r>
                          <m:r>
                            <m:t>e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h</m:t>
                          </m:r>
                          <m:r>
                            <m:t>o</m:t>
                          </m:r>
                          <m:r>
                            <m:t>m</m:t>
                          </m:r>
                          <m:r>
                            <m:t>e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rPr>
                              <m:nor/>
                              <m:sty m:val="p"/>
                            </m:rPr>
                            <m:t>Away Games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(</m:t>
                          </m:r>
                        </m:e>
                      </m:nary>
                      <m:sSub>
                        <m:e>
                          <m:r>
                            <m:t>O</m:t>
                          </m:r>
                        </m:e>
                        <m:sub>
                          <m:r>
                            <m:t>a</m:t>
                          </m:r>
                          <m:r>
                            <m:t>w</m:t>
                          </m:r>
                          <m:r>
                            <m:t>a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b</m:t>
                          </m:r>
                          <m:r>
                            <m:t>u</m:t>
                          </m:r>
                          <m:r>
                            <m:t>b</m:t>
                          </m:r>
                          <m:r>
                            <m:t>b</m:t>
                          </m:r>
                          <m:r>
                            <m:t>l</m:t>
                          </m:r>
                          <m:r>
                            <m:t>e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a</m:t>
                          </m:r>
                          <m:r>
                            <m:t>w</m:t>
                          </m:r>
                          <m:r>
                            <m:t>a</m:t>
                          </m:r>
                          <m:r>
                            <m:t>y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i="1"/>
                  <a:t>(Note: Based on the </a:t>
                </a:r>
                <a:r>
                  <a:rPr i="1">
                    <a:latin typeface="Courier"/>
                  </a:rPr>
                  <a:t>FinalModel.R</a:t>
                </a:r>
                <a:r>
                  <a:rPr i="1"/>
                  <a:t> implementation, WAB is calculated independently for home and away subsets and then aggregated across the season).</a:t>
                </a:r>
              </a:p>
            </p:txBody>
          </p:sp>
        </mc:Choice>
      </mc:AlternateContent>
    </p:spTree>
  </p:cSld>
</p:sld>
</file>

<file path=ppt/slides/slide2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4" name="Text Placeholder 3" /><p:cNvSpPr><a:spLocks noGrp="1" /></p:cNvSpPr><p:nvPr><p:ph idx="2" sz="half" type="body" /></p:nvPr></p:nvSpPr><p:spPr /><p:txBody><a:bodyPr /><a:lstStyle /><a:p><a:pPr lvl="0" indent="0" marL="0"><a:spcBef><a:spcPts val="3000" /></a:spcBef><a:buNone /></a:pPr><a:r><a:rPr b="1" /><a:t>Variable Definitions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574800" /><a:gridCol w="1968500" /><a:gridCol w="1574800" /></a:tblGrid><a:tr h="0"><a:tc><a:txBody><a:bodyPr /><a:lstStyle /><a:p><a:pPr lvl="0" indent="0" marL="0" algn="l"><a:buNone /></a:pPr><a:r><a:rPr /><a:t>Code Variable</a:t></a:r></a:p></a:txBody><a:tcPr /></a:tc><a:tc><a:txBody><a:bodyPr /><a:lstStyle /><a:p><a:pPr lvl="0" indent="0" marL="0" algn="ctr"><a:buNone /></a:pPr><a:r><a:rPr /><a:t>Mathematical Symbol</a:t></a:r></a:p></a:txBody><a:tcPr /></a:tc><a:tc><a:txBody><a:bodyPr /><a:lstStyle /><a:p><a:pPr lvl="0" indent="0" marL="0" algn="l"><a:buNone /></a:pPr><a:r><a:rPr /><a:t>Description</a:t></a:r></a:p></a:txBody><a:tcPr /></a:tc></a:tr><a:tr h="0"><a:tc><a:txBody><a:bodyPr /><a:lstStyle /><a:p><a:pPr lvl="0" indent="0" marL="0" algn="l"><a:buNone /></a:pPr><a:r><a:rPr><a:latin typeface="Courier" /></a:rPr><a:t>WL.Ratio</a:t></a:r></a:p></a:txBody></a:tc><a:tc><a:txBody><a:bodyPr /><a:lstStyle /><a:p><a:pPr lvl="0" indent="0" marL="0" algn="ctr"><a:buNone /></a:pPr><a14:m><m:oMath xmlns:m="http://schemas.openxmlformats.org/officeDocument/2006/math"><m:sSub><m:e><m:r><m:t>R</m:t></m:r></m:e><m:sub><m:r><m:t>w</m:t></m:r><m:r><m:t>l</m:t></m:r></m:sub></m:sSub></m:oMath></a14:m></a:p></a:txBody></a:tc><a:tc><a:txBody><a:bodyPr /><a:lstStyle /><a:p><a:pPr lvl="0" indent="0" marL="0" algn="l"><a:buNone /></a:pPr><a:r><a:rPr /><a:t>Overall Win/Loss Ratio</a:t></a:r></a:p></a:txBody></a:tc></a:tr><a:tr h="0"><a:tc><a:txBody><a:bodyPr /><a:lstStyle /><a:p><a:pPr lvl="0" indent="0" marL="0" algn="l"><a:buNone /></a:pPr><a:r><a:rPr><a:latin typeface="Courier" /></a:rPr><a:t>Conf.Ratio</a:t></a:r></a:p></a:txBody></a:tc><a:tc><a:txBody><a:bodyPr /><a:lstStyle /><a:p><a:pPr lvl="0" indent="0" marL="0" algn="ctr"><a:buNone /></a:pPr><a14:m><m:oMath xmlns:m="http://schemas.openxmlformats.org/officeDocument/2006/math"><m:sSub><m:e><m:r><m:t>R</m:t></m:r></m:e><m:sub><m:r><m:t>c</m:t></m:r><m:r><m:t>o</m:t></m:r><m:r><m:t>n</m:t></m:r><m:r><m:t>f</m:t></m:r></m:sub></m:sSub></m:oMath></a14:m></a:p></a:txBody></a:tc><a:tc><a:txBody><a:bodyPr /><a:lstStyle /><a:p><a:pPr lvl="0" indent="0" marL="0" algn="l"><a:buNone /></a:pPr><a:r><a:rPr /><a:t>Conference Win/Loss Ratio</a:t></a:r></a:p></a:txBody></a:tc></a:tr><a:tr h="0"><a:tc><a:txBody><a:bodyPr /><a:lstStyle /><a:p><a:pPr lvl="0" indent="0" marL="0" algn="l"><a:buNone /></a:pPr><a:r><a:rPr><a:latin typeface="Courier" /></a:rPr><a:t>NonConf.Ratio</a:t></a:r></a:p></a:txBody></a:tc><a:tc><a:txBody><a:bodyPr /><a:lstStyle /><a:p><a:pPr lvl="0" indent="0" marL="0" algn="ctr"><a:buNone /></a:pPr><a14:m><m:oMath xmlns:m="http://schemas.openxmlformats.org/officeDocument/2006/math"><m:sSub><m:e><m:r><m:t>R</m:t></m:r></m:e><m:sub><m:r><m:t>n</m:t></m:r><m:r><m:t>o</m:t></m:r><m:r><m:t>n</m:t></m:r><m:r><m:t>c</m:t></m:r><m:r><m:t>o</m:t></m:r><m:r><m:t>n</m:t></m:r><m:r><m:t>f</m:t></m:r></m:sub></m:sSub></m:oMath></a14:m></a:p></a:txBody></a:tc><a:tc><a:txBody><a:bodyPr /><a:lstStyle /><a:p><a:pPr lvl="0" indent="0" marL="0" algn="l"><a:buNone /></a:pPr><a:r><a:rPr /><a:t>Non-Conference Win/Loss Ratio</a:t></a:r></a:p></a:txBody></a:tc></a:tr><a:tr h="0"><a:tc><a:txBody><a:bodyPr /><a:lstStyle /><a:p><a:pPr lvl="0" indent="0" marL="0" algn="l"><a:buNone /></a:pPr><a:r><a:rPr><a:latin typeface="Courier" /></a:rPr><a:t>Road.Ratio</a:t></a:r></a:p></a:txBody></a:tc><a:tc><a:txBody><a:bodyPr /><a:lstStyle /><a:p><a:pPr lvl="0" indent="0" marL="0" algn="ctr"><a:buNone /></a:pPr><a14:m><m:oMath xmlns:m="http://schemas.openxmlformats.org/officeDocument/2006/math"><m:sSub><m:e><m:r><m:t>R</m:t></m:r></m:e><m:sub><m:r><m:t>r</m:t></m:r><m:r><m:t>o</m:t></m:r><m:r><m:t>a</m:t></m:r><m:r><m:t>d</m:t></m:r></m:sub></m:sSub></m:oMath></a14:m></a:p></a:txBody></a:tc><a:tc><a:txBody><a:bodyPr /><a:lstStyle /><a:p><a:pPr lvl="0" indent="0" marL="0" algn="l"><a:buNone /></a:pPr><a:r><a:rPr /><a:t>Road Games Win/Loss Ratio</a:t></a:r></a:p></a:txBody></a:tc></a:tr><a:tr h="0"><a:tc><a:txBody><a:bodyPr /><a:lstStyle /><a:p><a:pPr lvl="0" indent="0" marL="0" algn="l"><a:buNone /></a:pPr><a:r><a:rPr><a:latin typeface="Courier" /></a:rPr><a:t>Q1.Ratio</a:t></a:r></a:p></a:txBody></a:tc><a:tc><a:txBody><a:bodyPr /><a:lstStyle /><a:p><a:pPr lvl="0" indent="0" marL="0" algn="ctr"><a:buNone /></a:pPr><a14:m><m:oMath xmlns:m="http://schemas.openxmlformats.org/officeDocument/2006/math"><m:sSub><m:e><m:r><m:t>R</m:t></m:r></m:e><m:sub><m:r><m:t>q</m:t></m:r><m:r><m:t>1</m:t></m:r></m:sub></m:sSub></m:oMath></a14:m></a:p></a:txBody></a:tc><a:tc><a:txBody><a:bodyPr /><a:lstStyle /><a:p><a:pPr lvl="0" indent="0" marL="0" algn="l"><a:buNone /></a:pPr><a:r><a:rPr /><a:t>Quadrant 1 Win/Loss Ratio</a:t></a:r></a:p></a:txBody></a:tc></a:tr><a:tr h="0"><a:tc><a:txBody><a:bodyPr /><a:lstStyle /><a:p><a:pPr lvl="0" indent="0" marL="0" algn="l"><a:buNone /></a:pPr><a:r><a:rPr><a:latin typeface="Courier" /></a:rPr><a:t>Q2.Ratio</a:t></a:r></a:p></a:txBody></a:tc><a:tc><a:txBody><a:bodyPr /><a:lstStyle /><a:p><a:pPr lvl="0" indent="0" marL="0" algn="ctr"><a:buNone /></a:pPr><a14:m><m:oMath xmlns:m="http://schemas.openxmlformats.org/officeDocument/2006/math"><m:sSub><m:e><m:r><m:t>R</m:t></m:r></m:e><m:sub><m:r><m:t>q</m:t></m:r><m:r><m:t>2</m:t></m:r></m:sub></m:sSub></m:oMath></a14:m></a:p></a:txBody></a:tc><a:tc><a:txBody><a:bodyPr /><a:lstStyle /><a:p><a:pPr lvl="0" indent="0" marL="0" algn="l"><a:buNone /></a:pPr><a:r><a:rPr /><a:t>Quadrant 2 Win/Loss Ratio</a:t></a:r></a:p></a:txBody></a:tc></a:tr><a:tr h="0"><a:tc><a:txBody><a:bodyPr /><a:lstStyle /><a:p><a:pPr lvl="0" indent="0" marL="0" algn="l"><a:buNone /></a:pPr><a:r><a:rPr><a:latin typeface="Courier" /></a:rPr><a:t>Q3.Ratio</a:t></a:r></a:p></a:txBody></a:tc><a:tc><a:txBody><a:bodyPr /><a:lstStyle /><a:p><a:pPr lvl="0" indent="0" marL="0" algn="ctr"><a:buNone /></a:pPr><a14:m><m:oMath xmlns:m="http://schemas.openxmlformats.org/officeDocument/2006/math"><m:sSub><m:e><m:r><m:t>R</m:t></m:r></m:e><m:sub><m:r><m:t>q</m:t></m:r><m:r><m:t>3</m:t></m:r></m:sub></m:sSub></m:oMath></a14:m></a:p></a:txBody></a:tc><a:tc><a:txBody><a:bodyPr /><a:lstStyle /><a:p><a:pPr lvl="0" indent="0" marL="0" algn="l"><a:buNone /></a:pPr><a:r><a:rPr /><a:t>Quadrant 3 Win/Loss Ratio</a:t></a:r></a:p></a:txBody></a:tc></a:tr><a:tr h="0"><a:tc><a:txBody><a:bodyPr /><a:lstStyle /><a:p><a:pPr lvl="0" indent="0" marL="0" algn="l"><a:buNone /></a:pPr><a:r><a:rPr><a:latin typeface="Courier" /></a:rPr><a:t>Q4.Ratio</a:t></a:r></a:p></a:txBody></a:tc><a:tc><a:txBody><a:bodyPr /><a:lstStyle /><a:p><a:pPr lvl="0" indent="0" marL="0" algn="ctr"><a:buNone /></a:pPr><a14:m><m:oMath xmlns:m="http://schemas.openxmlformats.org/officeDocument/2006/math"><m:sSub><m:e><m:r><m:t>R</m:t></m:r></m:e><m:sub><m:r><m:t>q</m:t></m:r><m:r><m:t>4</m:t></m:r></m:sub></m:sSub></m:oMath></a14:m></a:p></a:txBody></a:tc><a:tc><a:txBody><a:bodyPr /><a:lstStyle /><a:p><a:pPr lvl="0" indent="0" marL="0" algn="l"><a:buNone /></a:pPr><a:r><a:rPr /><a:t>Quadrant 4 Win/Loss Ratio</a:t></a:r></a:p></a:txBody></a:tc></a:tr><a:tr h="0"><a:tc><a:txBody><a:bodyPr /><a:lstStyle /><a:p><a:pPr lvl="0" indent="0" marL="0" algn="l"><a:buNone /></a:pPr><a:r><a:rPr><a:latin typeface="Courier" /></a:rPr><a:t>bubbleWinProb_Home</a:t></a:r></a:p></a:txBody></a:tc><a:tc><a:txBody><a:bodyPr /><a:lstStyle /><a:p><a:pPr lvl="0" indent="0" marL="0" algn="ctr"><a:buNone /></a:pPr><a14:m><m:oMath xmlns:m="http://schemas.openxmlformats.org/officeDocument/2006/math"><m:sSub><m:e><m:r><m:t>P</m:t></m:r></m:e><m:sub><m:r><m:rPr><m:sty m:val="p" /></m:rPr><m:t>(</m:t></m:r><m:r><m:t>b</m:t></m:r><m:r><m:t>u</m:t></m:r><m:r><m:t>b</m:t></m:r><m:r><m:t>b</m:t></m:r><m:r><m:t>l</m:t></m:r><m:r><m:t>e</m:t></m:r><m:r><m:rPr><m:sty m:val="p" /></m:rPr><m:t>,</m:t></m:r><m:r><m:t>h</m:t></m:r><m:r><m:t>o</m:t></m:r><m:r><m:t>m</m:t></m:r><m:r><m:t>e</m:t></m:r><m:r><m:rPr><m:sty m:val="p" /></m:rPr><m:t>)</m:t></m:r></m:sub></m:sSub></m:oMath></a14:m></a:p></a:txBody></a:tc><a:tc><a:txBody><a:bodyPr /><a:lstStyle /><a:p><a:pPr lvl="0" indent="0" marL="0" algn="l"><a:buNone /></a:pPr><a:r><a:rPr /><a:t>Expected probability if a bubble team were the home team</a:t></a:r></a:p></a:txBody></a:tc></a:tr><a:tr h="0"><a:tc><a:txBody><a:bodyPr /><a:lstStyle /><a:p><a:pPr lvl="0" indent="0" marL="0" algn="l"><a:buNone /></a:pPr><a:r><a:rPr><a:latin typeface="Courier" /></a:rPr><a:t>bubbleWinProb_Away</a:t></a:r></a:p></a:txBody></a:tc><a:tc><a:txBody><a:bodyPr /><a:lstStyle /><a:p><a:pPr lvl="0" indent="0" marL="0" algn="ctr"><a:buNone /></a:pPr><a14:m><m:oMath xmlns:m="http://schemas.openxmlformats.org/officeDocument/2006/math"><m:sSub><m:e><m:r><m:t>P</m:t></m:r></m:e><m:sub><m:r><m:rPr><m:sty m:val="p" /></m:rPr><m:t>(</m:t></m:r><m:r><m:t>b</m:t></m:r><m:r><m:t>u</m:t></m:r><m:r><m:t>b</m:t></m:r><m:r><m:t>b</m:t></m:r><m:r><m:t>l</m:t></m:r><m:r><m:t>e</m:t></m:r><m:r><m:rPr><m:sty m:val="p" /></m:rPr><m:t>,</m:t></m:r><m:r><m:t>a</m:t></m:r><m:r><m:t>w</m:t></m:r><m:r><m:t>a</m:t></m:r><m:r><m:t>y</m:t></m:r><m:r><m:rPr><m:sty m:val="p" /></m:rPr><m:t>)</m:t></m:r></m:sub></m:sSub></m:oMath></a14:m></a:p></a:txBody></a:tc><a:tc><a:txBody><a:bodyPr /><a:lstStyle /><a:p><a:pPr lvl="0" indent="0" marL="0" algn="l"><a:buNone /></a:pPr><a:r><a:rPr /><a:t>Expected probability if a bubble team were the away team</a:t></a:r></a:p></a:txBody></a:tc></a:tr><a:tr h="0"><a:tc><a:txBody><a:bodyPr /><a:lstStyle /><a:p><a:pPr lvl="0" indent="0" marL="0" algn="l"><a:buNone /></a:pPr><a:r><a:rPr><a:latin typeface="Courier" /></a:rPr><a:t>WAB_home</a:t></a:r></a:p></a:txBody></a:tc><a:tc><a:txBody><a:bodyPr /><a:lstStyle /><a:p><a:pPr lvl="0" indent="0" marL="0" algn="ctr"><a:buNone /></a:pPr><a14:m><m:oMath xmlns:m="http://schemas.openxmlformats.org/officeDocument/2006/math"><m:sSub><m:e><m:r><m:rPr><m:nor /><m:sty m:val="p" /></m:rPr><m:t>WAB</m:t></m:r></m:e><m:sub><m:r><m:t>h</m:t></m:r><m:r><m:t>o</m:t></m:r><m:r><m:t>m</m:t></m:r><m:r><m:t>e</m:t></m:r></m:sub></m:sSub></m:oMath></a14:m></a:p></a:txBody></a:tc><a:tc><a:txBody><a:bodyPr /><a:lstStyle /><a:p><a:pPr lvl="0" indent="0" marL="0" algn="l"><a:buNone /></a:pPr><a:r><a:rPr /><a:t>Total Wins Above Bubble accumulated from home games</a:t></a:r></a:p></a:txBody></a:tc></a:tr><a:tr h="0"><a:tc><a:txBody><a:bodyPr /><a:lstStyle /><a:p><a:pPr lvl="0" indent="0" marL="0" algn="l"><a:buNone /></a:pPr><a:r><a:rPr><a:latin typeface="Courier" /></a:rPr><a:t>WAB_away</a:t></a:r></a:p></a:txBody></a:tc><a:tc><a:txBody><a:bodyPr /><a:lstStyle /><a:p><a:pPr lvl="0" indent="0" marL="0" algn="ctr"><a:buNone /></a:pPr><a14:m><m:oMath xmlns:m="http://schemas.openxmlformats.org/officeDocument/2006/math"><m:sSub><m:e><m:r><m:rPr><m:nor /><m:sty m:val="p" /></m:rPr><m:t>WAB</m:t></m:r></m:e><m:sub><m:r><m:t>a</m:t></m:r><m:r><m:t>w</m:t></m:r><m:r><m:t>a</m:t></m:r><m:r><m:t>y</m:t></m:r></m:sub></m:sSub></m:oMath></a14:m></a:p></a:txBody></a:tc><a:tc><a:txBody><a:bodyPr /><a:lstStyle /><a:p><a:pPr lvl="0" indent="0" marL="0" algn="l"><a:buNone /></a:pPr><a:r><a:rPr /><a:t>Total Wins Above Bubble accumulated from away games</a:t></a:r></a:p></a:txBody></a:tc></a:tr><a:tr h="0"><a:tc><a:txBody><a:bodyPr /><a:lstStyle /><a:p><a:pPr lvl="0" indent="0" marL="0" algn="l"><a:buNone /></a:pPr><a:r><a:rPr><a:latin typeface="Courier" /></a:rPr><a:t>WAB</a:t></a:r></a:p></a:txBody></a:tc><a:tc><a:txBody><a:bodyPr /><a:lstStyle /><a:p><a:pPr lvl="0" indent="0" marL="0" algn="ctr"><a:buNone /></a:pPr><a14:m><m:oMath xmlns:m="http://schemas.openxmlformats.org/officeDocument/2006/math"><m:sSub><m:e><m:r><m:rPr><m:nor /><m:sty m:val="p" /></m:rPr><m:t>WAB</m:t></m:r></m:e><m:sub><m:r><m:t>t</m:t></m:r><m:r><m:t>o</m:t></m:r><m:r><m:t>t</m:t></m:r><m:r><m:t>a</m:t></m:r><m:r><m:t>l</m:t></m:r></m:sub></m:sSub></m:oMath></a14:m></a:p></a:txBody></a:tc><a:tc><a:txBody><a:bodyPr /><a:lstStyle /><a:p><a:pPr lvl="0" indent="0" marL="0" algn="l"><a:buNone /></a:pPr><a:r><a:rPr /><a:t>A team’s total Season Wins Above Bubble</a:t></a:r></a:p></a:txBody></a:tc></a:tr></a:tbl></a:graphicData></a:graphic></p:graphicFrame></p:spTree></p:cSld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2026-03-30T22:48:40Z</dcterms:created>
  <dcterms:modified xsi:type="dcterms:W3CDTF">2026-03-30T22:48:40Z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